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7" r:id="rId8"/>
    <p:sldId id="261" r:id="rId9"/>
    <p:sldId id="264" r:id="rId10"/>
    <p:sldId id="262" r:id="rId11"/>
    <p:sldId id="265" r:id="rId12"/>
    <p:sldId id="266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15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61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317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25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58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676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519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815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920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1039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119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5A71A-E69E-4E5E-9497-11C7B8C8363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6D2AA-0CC8-4335-891F-0C490D976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10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910667" y="1799657"/>
            <a:ext cx="4176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生産会議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773933" y="2705074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月次報告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（○〇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月度）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160947" y="5963059"/>
            <a:ext cx="330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提出者：生産管理部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生産部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33974" y="5963059"/>
            <a:ext cx="303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日付：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YYYY/MM/DD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794219" y="4334066"/>
            <a:ext cx="4176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部（需要情報</a:t>
            </a:r>
            <a:endParaRPr lang="en-US" altLang="ja-JP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工務（生産管理（計画立案）</a:t>
            </a:r>
            <a:endParaRPr kumimoji="1" lang="en-US" altLang="ja-JP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製造部（実行能力・現場状況）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1723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6683" y="227430"/>
            <a:ext cx="4176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アジェンダ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818985" y="1318911"/>
            <a:ext cx="4444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）今月の受注概要　（生産管理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工務）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818984" y="1811578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２）生産計画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vs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実績　（工務）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810437" y="2308058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３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）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人員状況　（生産部）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827531" y="3352312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５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）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品質状況　（品質技術部）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810434" y="4823206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trike="sngStrike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５）設備稼働状況・停止要因</a:t>
            </a:r>
            <a:endParaRPr kumimoji="1" lang="ja-JP" altLang="en-US" strike="sngStrike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810436" y="3848858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６）資材調達状況　（工務部）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810435" y="4301046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７）総合評価（リスクと対策）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818984" y="5321231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trike="sngStrike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８）来月の生産計画</a:t>
            </a:r>
            <a:endParaRPr kumimoji="1" lang="ja-JP" altLang="en-US" strike="sngStrike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818984" y="5779074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trike="sngStrike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９）経営判断が必要な事項</a:t>
            </a:r>
            <a:endParaRPr kumimoji="1" lang="ja-JP" altLang="en-US" strike="sngStrike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844620" y="2830218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４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）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仕入先売上状況　（営業部）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923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5265" y="226397"/>
            <a:ext cx="4176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今月</a:t>
            </a:r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の受注状況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53067" y="1225605"/>
            <a:ext cx="546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■当月、次月の受注状況（予定比、前月比）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535289" y="1677161"/>
            <a:ext cx="688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・実績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XXXXXXXX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台（前月比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±Y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％）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253067" y="3907041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■受注変更の主な要因（３点）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535289" y="4358597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１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．○〇顧客の需要増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535289" y="4810153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２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．▲▲のモデルチェンジ影響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535289" y="5261709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３．在庫調査による減少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253067" y="2164079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■顧客別受注構成（円グラフ推奨）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554051" y="2681459"/>
            <a:ext cx="688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A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社：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％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54051" y="3080366"/>
            <a:ext cx="688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</a:t>
            </a:r>
            <a:r>
              <a:rPr lang="en-US" altLang="ja-JP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B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社：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％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554051" y="3524534"/>
            <a:ext cx="688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</a:t>
            </a:r>
            <a:r>
              <a:rPr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社：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％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535289" y="6104750"/>
            <a:ext cx="491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・スイッチ、コードの全体負荷グラフ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253067" y="5713265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■グループ日割り負荷表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911256" y="269127"/>
            <a:ext cx="209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生産管理（工務）</a:t>
            </a:r>
            <a:endParaRPr kumimoji="1" lang="ja-JP" altLang="en-US" dirty="0"/>
          </a:p>
        </p:txBody>
      </p:sp>
      <p:sp>
        <p:nvSpPr>
          <p:cNvPr id="2" name="円/楕円 1"/>
          <p:cNvSpPr/>
          <p:nvPr/>
        </p:nvSpPr>
        <p:spPr>
          <a:xfrm>
            <a:off x="8256059" y="2685027"/>
            <a:ext cx="1286154" cy="1286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当月</a:t>
            </a:r>
            <a:endParaRPr kumimoji="1" lang="ja-JP" altLang="en-US" dirty="0"/>
          </a:p>
        </p:txBody>
      </p:sp>
      <p:sp>
        <p:nvSpPr>
          <p:cNvPr id="20" name="円/楕円 19"/>
          <p:cNvSpPr/>
          <p:nvPr/>
        </p:nvSpPr>
        <p:spPr>
          <a:xfrm>
            <a:off x="10021796" y="2685027"/>
            <a:ext cx="1286154" cy="1286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次月</a:t>
            </a:r>
            <a:endParaRPr kumimoji="1" lang="ja-JP" altLang="en-US" dirty="0"/>
          </a:p>
        </p:txBody>
      </p:sp>
      <p:sp>
        <p:nvSpPr>
          <p:cNvPr id="3" name="正方形/長方形 2"/>
          <p:cNvSpPr/>
          <p:nvPr/>
        </p:nvSpPr>
        <p:spPr>
          <a:xfrm>
            <a:off x="8256059" y="1225605"/>
            <a:ext cx="3051891" cy="10866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面積グラフ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/>
        </p:nvSpPr>
        <p:spPr>
          <a:xfrm>
            <a:off x="8256058" y="5539261"/>
            <a:ext cx="3051891" cy="10866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製造１、製造２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負荷グラフ（別紙）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400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584" y="208680"/>
            <a:ext cx="5599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生産計画</a:t>
            </a:r>
            <a:r>
              <a:rPr lang="en-US" altLang="ja-JP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vs</a:t>
            </a:r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生産実績（要点）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60855" y="1225605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■生産達成率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43077" y="1747705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・計画：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XXXX</a:t>
            </a:r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台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43077" y="2128717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・実績：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台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43077" y="2580273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・納期遵守率：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％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487071"/>
              </p:ext>
            </p:extLst>
          </p:nvPr>
        </p:nvGraphicFramePr>
        <p:xfrm>
          <a:off x="4838685" y="2279473"/>
          <a:ext cx="6778192" cy="2834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9397"/>
                <a:gridCol w="1157836"/>
                <a:gridCol w="1157836"/>
                <a:gridCol w="1195916"/>
                <a:gridCol w="1007207"/>
              </a:tblGrid>
              <a:tr h="472494">
                <a:tc rowSpan="2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前月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当月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2494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スイッチ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コード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スイッチ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コード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2494"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計画数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24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/>
                        <a:t>実績数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2494"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差異率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72494"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納期遵守率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2" name="テキスト ボックス 11"/>
          <p:cNvSpPr txBox="1"/>
          <p:nvPr/>
        </p:nvSpPr>
        <p:spPr>
          <a:xfrm>
            <a:off x="560855" y="3460308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未達の主原因（トップ</a:t>
            </a:r>
            <a:r>
              <a:rPr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）</a:t>
            </a:r>
            <a:endParaRPr kumimoji="1" lang="en-US" altLang="ja-JP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843077" y="3911864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・人員不足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843077" y="4363420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・設備要因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843077" y="4814976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・部品欠品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99930" y="3016504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（棒グラフで「計画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vs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実績」を表示）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0271116" y="424123"/>
            <a:ext cx="16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工務（製品）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8133822" y="3671678"/>
            <a:ext cx="282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前月の実績</a:t>
            </a:r>
            <a:endParaRPr kumimoji="1" lang="ja-JP" altLang="en-US" dirty="0">
              <a:solidFill>
                <a:srgbClr val="FF0000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253067" y="6195888"/>
            <a:ext cx="500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遵守率に対しての主原因報告、減産分対応</a:t>
            </a:r>
            <a:endParaRPr kumimoji="1" lang="ja-JP" altLang="en-US" dirty="0">
              <a:solidFill>
                <a:srgbClr val="FF0000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814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8375" y="220543"/>
            <a:ext cx="5599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</a:t>
            </a:r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材調達状況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1104095" y="1247254"/>
            <a:ext cx="31596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 納期遵守率</a:t>
            </a:r>
            <a:endParaRPr lang="en-US" altLang="ja-JP" b="1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・工程内納期遵守</a:t>
            </a:r>
            <a:endParaRPr lang="en-US" altLang="ja-JP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　製品／工程／全体</a:t>
            </a:r>
            <a:endParaRPr lang="en-US" altLang="ja-JP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lang="en-US" altLang="ja-JP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b="1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 欠品・遅延発生状況　</a:t>
            </a:r>
            <a:endParaRPr lang="ja-JP" altLang="en-US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・件数：</a:t>
            </a:r>
            <a:r>
              <a:rPr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件</a:t>
            </a:r>
            <a:endParaRPr lang="en-US" altLang="ja-JP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　当月、翌月のリスク</a:t>
            </a:r>
            <a:endParaRPr lang="en-US" altLang="ja-JP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　以降リスクと問題</a:t>
            </a:r>
          </a:p>
          <a:p>
            <a:endParaRPr lang="en-US" altLang="ja-JP" b="1" dirty="0" smtClean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04095" y="5519986"/>
            <a:ext cx="6823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部品状況（欠品リスク・在庫過多情報など）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04095" y="5982490"/>
            <a:ext cx="6823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来月以降のリスクなど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800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5425" y="218672"/>
            <a:ext cx="5599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人員状況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439245"/>
              </p:ext>
            </p:extLst>
          </p:nvPr>
        </p:nvGraphicFramePr>
        <p:xfrm>
          <a:off x="3279423" y="1671578"/>
          <a:ext cx="8128001" cy="412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102"/>
                <a:gridCol w="999552"/>
                <a:gridCol w="999552"/>
                <a:gridCol w="933757"/>
                <a:gridCol w="1065346"/>
                <a:gridCol w="1065346"/>
                <a:gridCol w="1065346"/>
              </a:tblGrid>
              <a:tr h="515333">
                <a:tc rowSpan="2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前月実績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当月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翌月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</a:tr>
              <a:tr h="515333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S/W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コード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S/W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コード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S/W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コード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</a:tr>
              <a:tr h="51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/>
                        <a:t>負荷時間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240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600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300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750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1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/>
                        <a:t>総人員数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30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70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30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70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15333"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当月必要人員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33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75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38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1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/>
                        <a:t>過不足人員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8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1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/>
                        <a:t>残業予測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150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1200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300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2000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1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/>
                        <a:t>残業実績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140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1100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</a:t>
                      </a:r>
                      <a:endParaRPr kumimoji="1" lang="ja-JP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altLang="ja-JP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altLang="ja-JP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1253067" y="1225605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■必要人数</a:t>
            </a:r>
            <a:r>
              <a:rPr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vs</a:t>
            </a:r>
            <a:r>
              <a:rPr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確保人数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535289" y="1677161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・必要：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名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535289" y="2128717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・確保：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名（不足△名）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9083332" y="428670"/>
            <a:ext cx="282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生産部：スイッチ、コード</a:t>
            </a:r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253067" y="6195888"/>
            <a:ext cx="1028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不足人員に対しての調整と対応方法を報告し、それら含めての残業予測時間を明記</a:t>
            </a:r>
            <a:endParaRPr kumimoji="1" lang="ja-JP" altLang="en-US" dirty="0">
              <a:solidFill>
                <a:srgbClr val="FF0000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1132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8191" y="217851"/>
            <a:ext cx="4176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仕入先売上情報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2217683" y="1954924"/>
            <a:ext cx="8145517" cy="3153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仕入先別の売上折れ線グラフ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253067" y="6195888"/>
            <a:ext cx="798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問題があるのか無いのか負荷が判らないので金額ベースでの判断</a:t>
            </a:r>
            <a:endParaRPr kumimoji="1" lang="ja-JP" altLang="en-US" dirty="0">
              <a:solidFill>
                <a:srgbClr val="FF0000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083332" y="428670"/>
            <a:ext cx="1829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営業</a:t>
            </a:r>
            <a:r>
              <a:rPr lang="ja-JP" altLang="en-US" dirty="0"/>
              <a:t>部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39843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857" y="221552"/>
            <a:ext cx="5599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品質実績（品質報告）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750902"/>
              </p:ext>
            </p:extLst>
          </p:nvPr>
        </p:nvGraphicFramePr>
        <p:xfrm>
          <a:off x="988811" y="1459208"/>
          <a:ext cx="98552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1248177"/>
                <a:gridCol w="1867437"/>
                <a:gridCol w="4275786"/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部署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不良率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/>
                        <a:t>不具合件数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 smtClean="0"/>
                        <a:t>備考</a:t>
                      </a:r>
                      <a:endParaRPr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 smtClean="0"/>
                        <a:t>S/W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 smtClean="0"/>
                        <a:t>コード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 smtClean="0"/>
                        <a:t>スギヤマ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 smtClean="0"/>
                        <a:t>共栄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 smtClean="0"/>
                        <a:t>北斗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988811" y="4753421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■流出不良情報（トレンド）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343377" y="5122753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・今月：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％（先月日</a:t>
            </a:r>
            <a:r>
              <a:rPr kumimoji="1" lang="en-US" altLang="ja-JP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±XX</a:t>
            </a:r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％）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343376" y="5584379"/>
            <a:ext cx="417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（折れ線グラフ推奨）</a:t>
            </a:r>
            <a:endParaRPr kumimoji="1" lang="ja-JP" altLang="en-US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797307" y="2110400"/>
            <a:ext cx="2537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顧客クレーム情報</a:t>
            </a:r>
            <a:endParaRPr kumimoji="1" lang="ja-JP" altLang="en-US" dirty="0">
              <a:solidFill>
                <a:srgbClr val="FF0000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797307" y="2915498"/>
            <a:ext cx="3348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棒グラフ</a:t>
            </a:r>
            <a:r>
              <a:rPr lang="ja-JP" altLang="en-US" dirty="0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と折れ線</a:t>
            </a:r>
            <a:r>
              <a:rPr lang="ja-JP" altLang="en-US" dirty="0" smtClean="0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グラフ</a:t>
            </a:r>
            <a:endParaRPr lang="en-US" altLang="ja-JP" dirty="0" smtClean="0">
              <a:solidFill>
                <a:srgbClr val="FF0000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dirty="0" smtClean="0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目標値</a:t>
            </a:r>
            <a:endParaRPr kumimoji="1" lang="ja-JP" altLang="en-US" dirty="0">
              <a:solidFill>
                <a:srgbClr val="FF0000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9083332" y="428670"/>
            <a:ext cx="1829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品技部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112647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83822" y="695027"/>
            <a:ext cx="5599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総合評価（リスクと対策）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1824507" y="1608098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2400" b="1" dirty="0" smtClean="0"/>
              <a:t>【</a:t>
            </a:r>
            <a:r>
              <a:rPr lang="ja-JP" altLang="en-US" sz="2400" b="1" dirty="0" smtClean="0"/>
              <a:t>総括</a:t>
            </a:r>
            <a:r>
              <a:rPr lang="en-US" altLang="ja-JP" sz="2400" b="1" dirty="0" smtClean="0"/>
              <a:t>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 smtClean="0"/>
              <a:t>　受注は＋</a:t>
            </a:r>
            <a:r>
              <a:rPr lang="en-US" altLang="ja-JP" sz="2400" dirty="0" smtClean="0"/>
              <a:t>XX%</a:t>
            </a:r>
            <a:r>
              <a:rPr lang="ja-JP" altLang="en-US" sz="2400" dirty="0" smtClean="0"/>
              <a:t>と好調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 smtClean="0"/>
              <a:t>　生産は△△要因で計画未達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 smtClean="0"/>
              <a:t>　品質は改善傾向、設備は停止増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 smtClean="0"/>
              <a:t>　人員の不足が最⼤の制約要因</a:t>
            </a:r>
          </a:p>
          <a:p>
            <a:r>
              <a:rPr lang="en-US" altLang="ja-JP" sz="2400" b="1" dirty="0" smtClean="0"/>
              <a:t>【</a:t>
            </a:r>
            <a:r>
              <a:rPr lang="ja-JP" altLang="en-US" sz="2400" b="1" dirty="0" smtClean="0"/>
              <a:t>重要リスク</a:t>
            </a:r>
            <a:r>
              <a:rPr lang="en-US" altLang="ja-JP" sz="2400" b="1" dirty="0" smtClean="0"/>
              <a:t>】</a:t>
            </a:r>
          </a:p>
          <a:p>
            <a:pPr>
              <a:buFont typeface="+mj-lt"/>
              <a:buAutoNum type="arabicPeriod"/>
            </a:pPr>
            <a:r>
              <a:rPr lang="ja-JP" altLang="en-US" sz="2400" dirty="0" smtClean="0"/>
              <a:t>　○○工程の人員不足</a:t>
            </a:r>
          </a:p>
          <a:p>
            <a:pPr>
              <a:buFont typeface="+mj-lt"/>
              <a:buAutoNum type="arabicPeriod"/>
            </a:pPr>
            <a:r>
              <a:rPr lang="ja-JP" altLang="en-US" sz="2400" dirty="0" smtClean="0"/>
              <a:t>　設備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の老朽化</a:t>
            </a:r>
          </a:p>
          <a:p>
            <a:pPr>
              <a:buFont typeface="+mj-lt"/>
              <a:buAutoNum type="arabicPeriod"/>
            </a:pPr>
            <a:r>
              <a:rPr lang="ja-JP" altLang="en-US" sz="2400" dirty="0" smtClean="0"/>
              <a:t>　○○部材の供給不安</a:t>
            </a:r>
          </a:p>
          <a:p>
            <a:r>
              <a:rPr lang="en-US" altLang="ja-JP" sz="2400" b="1" dirty="0" smtClean="0"/>
              <a:t>【</a:t>
            </a:r>
            <a:r>
              <a:rPr lang="ja-JP" altLang="en-US" sz="2400" b="1" dirty="0" smtClean="0"/>
              <a:t>緊急対応策</a:t>
            </a:r>
            <a:r>
              <a:rPr lang="en-US" altLang="ja-JP" sz="2400" b="1" dirty="0" smtClean="0"/>
              <a:t>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 smtClean="0"/>
              <a:t>　応援の固定化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 smtClean="0"/>
              <a:t>　新人教育の前倒し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 dirty="0" smtClean="0"/>
              <a:t>　予防保全の強化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64765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83822" y="695027"/>
            <a:ext cx="5599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設備の稼働状況・停止要因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562578" y="2937949"/>
            <a:ext cx="63217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設備稼働率：〇％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停止時間：〇時間（前月比 △時間）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主な停止要因：〇〇（故障／段取り／材料待ち）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対策：予防保全強化、部品在庫の適正化、段取り短縮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56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383822" y="695027"/>
            <a:ext cx="5599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来月の生産計画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72236" y="219756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ja-JP" altLang="en-US" b="1" dirty="0" smtClean="0"/>
              <a:t>■ 来月 計画数量</a:t>
            </a:r>
            <a:endParaRPr lang="ja-JP" alt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 smtClean="0"/>
              <a:t>XXX</a:t>
            </a:r>
            <a:r>
              <a:rPr lang="ja-JP" altLang="en-US" dirty="0" smtClean="0"/>
              <a:t>台（先月比＋</a:t>
            </a:r>
            <a:r>
              <a:rPr lang="en-US" altLang="ja-JP" dirty="0" smtClean="0"/>
              <a:t>X%</a:t>
            </a:r>
            <a:r>
              <a:rPr lang="ja-JP" altLang="en-US" dirty="0" smtClean="0"/>
              <a:t>）</a:t>
            </a:r>
          </a:p>
          <a:p>
            <a:r>
              <a:rPr lang="ja-JP" altLang="en-US" b="1" dirty="0" smtClean="0"/>
              <a:t>■ 必要工数・必要人数</a:t>
            </a:r>
            <a:endParaRPr lang="ja-JP" alt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dirty="0" err="1" smtClean="0"/>
              <a:t>XXh</a:t>
            </a:r>
            <a:r>
              <a:rPr lang="en-US" altLang="ja-JP" dirty="0" smtClean="0"/>
              <a:t> </a:t>
            </a:r>
            <a:r>
              <a:rPr lang="ja-JP" altLang="en-US" dirty="0" smtClean="0"/>
              <a:t>／ </a:t>
            </a:r>
            <a:r>
              <a:rPr lang="en-US" altLang="ja-JP" dirty="0" smtClean="0"/>
              <a:t>XX</a:t>
            </a:r>
            <a:r>
              <a:rPr lang="ja-JP" altLang="en-US" dirty="0" smtClean="0"/>
              <a:t>名（不足△名）</a:t>
            </a:r>
          </a:p>
          <a:p>
            <a:r>
              <a:rPr lang="ja-JP" altLang="en-US" b="1" dirty="0" smtClean="0"/>
              <a:t>■ 次月の重点項目</a:t>
            </a:r>
            <a:endParaRPr lang="ja-JP" altLang="en-US" dirty="0" smtClean="0"/>
          </a:p>
          <a:p>
            <a:pPr>
              <a:buFont typeface="+mj-lt"/>
              <a:buAutoNum type="arabicPeriod"/>
            </a:pPr>
            <a:r>
              <a:rPr lang="ja-JP" altLang="en-US" dirty="0" smtClean="0"/>
              <a:t>人員強化</a:t>
            </a:r>
          </a:p>
          <a:p>
            <a:pPr>
              <a:buFont typeface="+mj-lt"/>
              <a:buAutoNum type="arabicPeriod"/>
            </a:pPr>
            <a:r>
              <a:rPr lang="ja-JP" altLang="en-US" dirty="0" smtClean="0"/>
              <a:t>特定ラインの能力増強</a:t>
            </a:r>
          </a:p>
          <a:p>
            <a:pPr>
              <a:buFont typeface="+mj-lt"/>
              <a:buAutoNum type="arabicPeriod"/>
            </a:pPr>
            <a:r>
              <a:rPr lang="ja-JP" altLang="en-US" dirty="0" smtClean="0"/>
              <a:t>品質安定化（新工程対応）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5901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83822" y="695027"/>
            <a:ext cx="5599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経営判断が必要な事項</a:t>
            </a:r>
            <a:endParaRPr kumimoji="1" lang="ja-JP" altLang="en-US" sz="32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1840089" y="212808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ja-JP" altLang="en-US" dirty="0" smtClean="0"/>
              <a:t>✅ </a:t>
            </a:r>
            <a:r>
              <a:rPr lang="en-US" altLang="ja-JP" b="1" dirty="0" smtClean="0"/>
              <a:t>1. </a:t>
            </a:r>
            <a:r>
              <a:rPr lang="ja-JP" altLang="en-US" b="1" dirty="0" smtClean="0"/>
              <a:t>人員増強の可否（派遣〇名／期間〇ヶ月）</a:t>
            </a:r>
            <a:endParaRPr lang="ja-JP" altLang="en-US" dirty="0" smtClean="0"/>
          </a:p>
          <a:p>
            <a:r>
              <a:rPr lang="ja-JP" altLang="en-US" dirty="0" smtClean="0"/>
              <a:t>理由：〇〇工程の負荷超過、品質リスク増大</a:t>
            </a:r>
          </a:p>
          <a:p>
            <a:r>
              <a:rPr lang="ja-JP" altLang="en-US" dirty="0" smtClean="0"/>
              <a:t>✅ </a:t>
            </a:r>
            <a:r>
              <a:rPr lang="en-US" altLang="ja-JP" b="1" dirty="0" smtClean="0"/>
              <a:t>2. </a:t>
            </a:r>
            <a:r>
              <a:rPr lang="ja-JP" altLang="en-US" b="1" dirty="0" smtClean="0"/>
              <a:t>設備投資の検討（〇〇装置更新）</a:t>
            </a:r>
            <a:endParaRPr lang="ja-JP" altLang="en-US" dirty="0" smtClean="0"/>
          </a:p>
          <a:p>
            <a:r>
              <a:rPr lang="ja-JP" altLang="en-US" dirty="0" smtClean="0"/>
              <a:t>理由：停止時間増加、来月以降の増産対応</a:t>
            </a:r>
          </a:p>
          <a:p>
            <a:r>
              <a:rPr lang="ja-JP" altLang="en-US" dirty="0" smtClean="0"/>
              <a:t>✅ </a:t>
            </a:r>
            <a:r>
              <a:rPr lang="en-US" altLang="ja-JP" b="1" dirty="0" smtClean="0"/>
              <a:t>3. </a:t>
            </a:r>
            <a:r>
              <a:rPr lang="ja-JP" altLang="en-US" b="1" dirty="0" smtClean="0"/>
              <a:t>資材調達の前倒し発注</a:t>
            </a:r>
            <a:endParaRPr lang="ja-JP" altLang="en-US" dirty="0" smtClean="0"/>
          </a:p>
          <a:p>
            <a:r>
              <a:rPr lang="ja-JP" altLang="en-US" dirty="0" smtClean="0"/>
              <a:t>理由：〇〇部材の逼迫リスク</a:t>
            </a:r>
          </a:p>
          <a:p>
            <a:r>
              <a:rPr lang="ja-JP" altLang="en-US" dirty="0" smtClean="0"/>
              <a:t>✅ </a:t>
            </a:r>
            <a:r>
              <a:rPr lang="en-US" altLang="ja-JP" b="1" dirty="0" smtClean="0"/>
              <a:t>4. </a:t>
            </a:r>
            <a:r>
              <a:rPr lang="ja-JP" altLang="en-US" b="1" dirty="0" smtClean="0"/>
              <a:t>客先との調整方針</a:t>
            </a:r>
            <a:endParaRPr lang="ja-JP" altLang="en-US" dirty="0" smtClean="0"/>
          </a:p>
          <a:p>
            <a:r>
              <a:rPr lang="ja-JP" altLang="en-US" dirty="0" smtClean="0"/>
              <a:t>理由：受注変動が大きく、安定生産に影響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05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691</Words>
  <Application>Microsoft Office PowerPoint</Application>
  <PresentationFormat>ワイド画面</PresentationFormat>
  <Paragraphs>177</Paragraphs>
  <Slides>12</Slides>
  <Notes>0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HG丸ｺﾞｼｯｸM-PRO</vt:lpstr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SD193</dc:creator>
  <cp:lastModifiedBy>SD193</cp:lastModifiedBy>
  <cp:revision>36</cp:revision>
  <dcterms:created xsi:type="dcterms:W3CDTF">2025-12-11T01:26:47Z</dcterms:created>
  <dcterms:modified xsi:type="dcterms:W3CDTF">2025-12-24T00:52:06Z</dcterms:modified>
</cp:coreProperties>
</file>